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66BB6A">
              <a:alpha val="30000"/>
            </a:srgbClr>
          </a:solidFill>
          <a:ln w="1270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657600"/>
            <a:ext cx="1645920" cy="164592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48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Superstore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3657600" cy="36576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Analysis Project  |  2014 – 2017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32004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32004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0680" y="32004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320040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Rudra Barman  |  Data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📋  Project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2435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Project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554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Dataset, Objectives &amp; Tools Used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84832"/>
            <a:ext cx="50292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8483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1396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Data Cleaning &amp; EDA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450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Missing values, Duplicates, Outlier Analysis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80944"/>
            <a:ext cx="50292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80944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0358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Key EDA Visualizations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3467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12 Charts from Jupyter Notebook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7705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77056"/>
            <a:ext cx="50292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77056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931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Power BI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42428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4-page Interactive Dashboard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188720"/>
            <a:ext cx="50292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1887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13248" y="12435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Streamlit Web App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3248" y="1554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Live Interactive Analysis App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08483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084832"/>
            <a:ext cx="50292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08483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13248" y="21396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3248" y="2450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Business Insights &amp; Recommendations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98094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980944"/>
            <a:ext cx="502920" cy="7498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80944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13248" y="30358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13248" y="33467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Summary &amp;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🗂️  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Dataset Information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35608"/>
            <a:ext cx="402336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4356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Sample Superstore CSV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574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Records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0574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9,994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79192"/>
            <a:ext cx="402336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7919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Columns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67919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21 → 40 (after FE)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0098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009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Period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3009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January 2014 – December 2017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22776"/>
            <a:ext cx="402336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2277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392277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Kaggle / Tableau Sample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51560"/>
            <a:ext cx="41148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051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Project Objectives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572768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Perform complete EDA on 9,994 sales transactions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011680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947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Clean &amp; preprocess raw data for analysis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2450592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3865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Engineer 12+ new business features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2889504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8254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Create 12 insightful visualizations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3328416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2644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Build interactive Power BI Dashboard (4 pages)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767328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703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Export clean dataset to PostgreSQL database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4206240"/>
            <a:ext cx="164592" cy="16459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41422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Deploy Streamlit web app for live analysis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🔍  Data Cleaning &amp; EDA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Date Conversion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Order Date &amp; Ship Date → datetime format (dayfirst=True)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64008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3172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📮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Postal Code Fix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int64 → zero-padded string (zfill=5) for leading zeros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66160"/>
            <a:ext cx="64008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6616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657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String Standardise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023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strip() + title() applied to 8 categorical columns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64008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9728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1188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Column Drop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554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Removed Row ID (index) &amp; Country (single value = USA)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31720"/>
            <a:ext cx="64008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3172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Data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788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Zero missing values | Zero full duplicates confirmed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64008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6616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657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Negative Shipping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023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1,708 negative durations fixed → replaced with median (5 days)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⚙️  Feature Engineering — 12 New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828800" cy="8412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Shipping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097280"/>
            <a:ext cx="6492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Shipping_Duration — days between order &amp; ship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57400"/>
            <a:ext cx="1828800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57400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057400"/>
            <a:ext cx="6492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Order_Year, Order_Month, Order_Quarter   |   Order_DayName, Order_MonthName   |   Year_Month (for time series grouping)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1828800" cy="8412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17520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Financial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3017520"/>
            <a:ext cx="6492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Profit_Margin_% — (Profit/Sales × 100)   |   Revenue_Per_Unit — Sales/Quantity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77640"/>
            <a:ext cx="1828800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77640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🏷️ Categorical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977640"/>
            <a:ext cx="6492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Profit_Category — High/Low/Break-Even/Loss   |   Discount_Tier — No/Low/Medium/High   |   Is_High_Discount — Binary flag (&gt;30%)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Dataset Journey:  Raw 21 cols  →  After Cleaning 19 cols  →  After Feature Engineering 40 cols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📊  Key EDA Statistics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8424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984248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1984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$2.29M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212848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4 Year Total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1097280"/>
            <a:ext cx="198424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1097280"/>
            <a:ext cx="1984248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097280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41448" y="1417320"/>
            <a:ext cx="1984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$286K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41448" y="2212848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Net Earnings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097280"/>
            <a:ext cx="198424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097280"/>
            <a:ext cx="1984248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097280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08576" y="1417320"/>
            <a:ext cx="1984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5,009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08576" y="2212848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Unique Orders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75704" y="1097280"/>
            <a:ext cx="198424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1097280"/>
            <a:ext cx="1984248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1097280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Profit Margin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75704" y="1417320"/>
            <a:ext cx="1984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12.03%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75704" y="2212848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Avg Margin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816352"/>
            <a:ext cx="198424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16352"/>
            <a:ext cx="1984248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816352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Loss Orders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3136392"/>
            <a:ext cx="1984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</a:rPr>
              <a:t>18.7%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74320" y="3931920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1,871 orders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41448" y="2816352"/>
            <a:ext cx="198424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41448" y="2816352"/>
            <a:ext cx="1984248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41448" y="2816352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41448" y="3136392"/>
            <a:ext cx="1984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793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2441448" y="3931920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Total Customers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08576" y="2816352"/>
            <a:ext cx="198424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08576" y="2816352"/>
            <a:ext cx="1984248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2816352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Unique Products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08576" y="3136392"/>
            <a:ext cx="1984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1,862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608576" y="3931920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SKUs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75704" y="2816352"/>
            <a:ext cx="198424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75704" y="2816352"/>
            <a:ext cx="1984248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75704" y="2816352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Ship Days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75704" y="3136392"/>
            <a:ext cx="1984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5 days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775704" y="3931920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Median Duration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📈  EDA Visualizations — 12 Charts Created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1247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Category Performance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Sales &amp; Profit by Category (Bar)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5156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05156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11247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Sub-Category Dive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155448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Profit &amp; Sales by Sub-Category (H-Bar)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05156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5156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05156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02352" y="11247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Regional Analysis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2352" y="155448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Sales, Profit, Orders by Region (Pie)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105156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05156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05156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78624" y="11247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Time Series Trend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78624" y="155448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Monthly Sales &amp; Profit 2014–17 (Line)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37744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37744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37744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" y="24505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Segment Analysis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288036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Sales, Profit &amp; Discount by Segment (Bar)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50592" y="237744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50592" y="237744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237744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26080" y="24505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Ship Mode Analysis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26080" y="288036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Orders &amp; Avg Profit by Shipping Mode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26864" y="237744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26864" y="237744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237744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02352" y="24505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Discount vs Profit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02352" y="288036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Scatter + Discount Tier Bar Chart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03136" y="237744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03136" y="237744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237744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278624" y="24505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Quarterly Heatmap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278624" y="288036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Year × Quarter Sales Heatmap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370332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70332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49808" y="377647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Top 10 States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49808" y="420624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State-wise Sales &amp; Profit Bar Chart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50592" y="370332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450592" y="370332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0592" y="370332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926080" y="377647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Profit Distribution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926080" y="420624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Profit Category Bar + Pie Chart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26864" y="370332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26864" y="370332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26864" y="370332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102352" y="377647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Distribution Plots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102352" y="420624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Histograms: Sales, Profit, Discount, Ship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03136" y="3703320"/>
            <a:ext cx="2011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803136" y="3703320"/>
            <a:ext cx="438912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03136" y="3703320"/>
            <a:ext cx="43891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12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278624" y="377647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Box Plot Analysis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278624" y="420624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</a:rPr>
              <a:t>Sales by Category &amp; Profit by Region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💡  Key EDA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566928" cy="11704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5669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1124712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</a:rPr>
              <a:t>Discount Tipping Point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14904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</a:rPr>
              <a:t>Discounts above 20% consistently cause negative profit. Medium (20-40%) → avg -$78 loss. High (40-80%) → avg -$100 loss per order!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77440"/>
            <a:ext cx="566928" cy="1170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77440"/>
            <a:ext cx="5669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6112" y="2450592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</a:rPr>
              <a:t>Furniture Paradox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281635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</a:rPr>
              <a:t>Furniture is 2nd in Sales ($742K) but last in Profit ($18K only). 2.5% margin vs Technology's 17.4% margin — critically under-performing.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7033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703320"/>
            <a:ext cx="566928" cy="11704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703320"/>
            <a:ext cx="5669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🖨️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" y="3776472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20"/>
                </a:solidFill>
              </a:rPr>
              <a:t>Copiers — Hidden Gem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414223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</a:rPr>
              <a:t>Copiers rank mid-table in sales but deliver the HIGHEST sub-category profit ($55K). Sold at premium price with minimal discounting.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566928" cy="1170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51560"/>
            <a:ext cx="5669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76672" y="1124712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</a:rPr>
              <a:t>Texas &amp; Ohio Losing Money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76672" y="14904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</a:rPr>
              <a:t>Texas: 3rd in sales ($170K) but makes a loss! Along with Ohio, Illinois &amp; Pennsylvania — 4 of top 10 states are unprofitable.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77440"/>
            <a:ext cx="566928" cy="11704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77440"/>
            <a:ext cx="5669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76672" y="2450592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20"/>
                </a:solidFill>
              </a:rPr>
              <a:t>Q4 Seasonal Spike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76672" y="281635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</a:rPr>
              <a:t>Every year Q4 (Oct–Dec) shows peak sales — holiday season effect. 2017 was the best year overall with $733K total revenue.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03320"/>
            <a:ext cx="566928" cy="11704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703320"/>
            <a:ext cx="5669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76672" y="3776472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</a:rPr>
              <a:t>18.7% Orders in Loss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76672" y="414223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</a:rPr>
              <a:t>1,871 transactions are loss-making. Fixing these alone could boost profit from $286K to $442K — a 54% improvement potential!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📊  Power BI Dashboard — 4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621792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621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1338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5179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KPI Cards • Donut Chart • Region Bar • Monthly Trend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39112"/>
            <a:ext cx="621792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39112"/>
            <a:ext cx="621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20939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Product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4780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Sub-Category Profit/Sales • Top 10 Products • Year Heatmap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99232"/>
            <a:ext cx="621792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99232"/>
            <a:ext cx="621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30540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Regional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43814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3 Pie Charts • Top States • Loss States • Segment×Region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959352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59352"/>
            <a:ext cx="621792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59352"/>
            <a:ext cx="621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40142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Profitability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439826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Scatter Plot • Discount Tier • Profit Category • Ship Mode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✨  Features: Interactive slicers (Year, Category, Region, Segment) | Green theme | Conditional formatting | Data labels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🌐  Streamlit Web App — Live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✨ App Features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581912"/>
            <a:ext cx="137160" cy="13716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4 Interactive Pages (Overview, Product, Regional, Profitability)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2020824"/>
            <a:ext cx="137160" cy="13716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47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Live Filters: Year, Category, Region, Segment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459736"/>
            <a:ext cx="137160" cy="13716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865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Green professional theme with custom KPI cards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898648"/>
            <a:ext cx="137160" cy="13716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254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12+ Matplotlib &amp; Seaborn visualizations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337560"/>
            <a:ext cx="137160" cy="13716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644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Key Insights boxes with business findings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3776472"/>
            <a:ext cx="137160" cy="13716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03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Profitability summary table with drill-down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4215384"/>
            <a:ext cx="137160" cy="13716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42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Fully responsive — works on any browser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51560"/>
            <a:ext cx="41148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051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How to Run the App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627632"/>
            <a:ext cx="201168" cy="20116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627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10912" y="1554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Install dependencies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048256"/>
            <a:ext cx="384048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048256"/>
            <a:ext cx="384048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streamlit pandas matplotlib seaborn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578608"/>
            <a:ext cx="201168" cy="20116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5786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10912" y="25054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Place superstore_clean.csv in same folder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054096"/>
            <a:ext cx="201168" cy="20116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0540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10912" y="29809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Open Terminal / Command Prompt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529584"/>
            <a:ext cx="201168" cy="20116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5295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10912" y="34564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Run the command below: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931920"/>
            <a:ext cx="411480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93192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superstore_app.py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4480560"/>
            <a:ext cx="4114800" cy="29260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480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🌐  Opens at: http://localhost:8501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🛠️  Tech Stack &amp; Tools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68580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685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4128" y="11521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Python 3.11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Core 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7373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pandas, numpy, matplotlib, seaborn, scikit-learn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40487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04872"/>
            <a:ext cx="68580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04872"/>
            <a:ext cx="685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24128" y="24780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Jupyter Notebook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80720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EDA &amp;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3063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nbformat, IPython kernel, inline plotting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73075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30752"/>
            <a:ext cx="68580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30752"/>
            <a:ext cx="685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🐘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24128" y="3803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PostgreSQL 17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41330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Database Storage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" y="4389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pgAdmin 4, SQL queries, COPY import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07899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78992"/>
            <a:ext cx="68580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78992"/>
            <a:ext cx="685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504688" y="11521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Power BI Desktop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04688" y="148132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Business 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17373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4 pages, slicers, conditional formatting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40487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404872"/>
            <a:ext cx="68580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404872"/>
            <a:ext cx="685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504688" y="247802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Streamlit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04688" y="280720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Web Application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04688" y="3063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st.markdown, st.pyplot, st.columns, caching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73075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730752"/>
            <a:ext cx="68580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730752"/>
            <a:ext cx="685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504688" y="3803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VS Code / CLI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04688" y="41330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Development &amp; Deploy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04688" y="4389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6161"/>
                </a:solidFill>
              </a:rPr>
              <a:t>Terminal, pip, npm, file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  Conclusion &amp; 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📌 Key Conclusions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527048"/>
            <a:ext cx="146304" cy="146304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630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Company revenue grew 51% over 4 years (2014→2017)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2057400"/>
            <a:ext cx="146304" cy="146304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933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Technology is the most profitable category (17.4% margin)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587752"/>
            <a:ext cx="146304" cy="146304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237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Furniture has severely low margin despite high sales volume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3118104"/>
            <a:ext cx="146304" cy="146304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540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West region is most efficient — highest profit per dollar sold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648456"/>
            <a:ext cx="146304" cy="146304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844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20% discount is the critical break-even tipping point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4178808"/>
            <a:ext cx="146304" cy="146304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114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18.7% of all orders result in financial losses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005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Business Recommendations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148132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1481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Cap all discounts at 20% — never exceed this threshold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20116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66360" y="20116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Review Furniture pricing strategy — Tables &amp; Bookcases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254203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25420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Audit Texas, Ohio, Illinois — implement strict discount caps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307238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🖨️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30723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Promote Copiers more — highest ROI per unit sold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8032" y="360273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66360" y="360273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Plan inventory for Q4 seasonal demand spike every year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8032" y="413308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66360" y="4133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Focus on Home Office segment — highest per-order margin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66BB6A">
              <a:alpha val="30000"/>
            </a:srgbClr>
          </a:solidFill>
          <a:ln w="1270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657600"/>
            <a:ext cx="1828800" cy="182880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🙏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286000" y="2926080"/>
            <a:ext cx="4572000" cy="3657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Superstore Sales Analysis  |  2014 – 2017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657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657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24912" y="3657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3657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Jupyter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78224" y="3657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78224" y="3657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31536" y="3657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3657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84848" y="3657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3657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5D6A7"/>
                </a:solidFill>
              </a:rPr>
              <a:t>Prepared by: Rudra Barman  |  Data Analyst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Superstore Sales Analysis</dc:title>
  <dc:subject>PptxGenJS Presentation</dc:subject>
  <dc:creator>PptxGenJS</dc:creator>
  <cp:lastModifiedBy>PptxGenJS</cp:lastModifiedBy>
  <cp:revision>1</cp:revision>
  <dcterms:created xsi:type="dcterms:W3CDTF">2026-03-29T17:52:05Z</dcterms:created>
  <dcterms:modified xsi:type="dcterms:W3CDTF">2026-03-29T17:52:05Z</dcterms:modified>
</cp:coreProperties>
</file>